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Roboto" panose="02000000000000000000" pitchFamily="2" charset="0"/>
      <p:regular r:id="rId13"/>
    </p:embeddedFont>
    <p:embeddedFont>
      <p:font typeface="Roboto Slab" pitchFamily="2" charset="0"/>
      <p:regular r:id="rId14"/>
    </p:embeddedFont>
    <p:embeddedFont>
      <p:font typeface="Roboto Slab Light" pitchFamily="2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28748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79561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RetailMind: Autonomous Retail Research Agent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89418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 AI-powered system that automates retail industry research through intelligent multi-agent collaboration</a:t>
            </a:r>
            <a:endParaRPr lang="en-US" sz="11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10E764-FA69-7172-32AA-A4A51BDAE13A}"/>
              </a:ext>
            </a:extLst>
          </p:cNvPr>
          <p:cNvSpPr/>
          <p:nvPr/>
        </p:nvSpPr>
        <p:spPr>
          <a:xfrm>
            <a:off x="5829300" y="4523874"/>
            <a:ext cx="3254542" cy="6196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19423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What is RetailMind?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155254"/>
            <a:ext cx="475267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RetailMind is a full-stack AI-powered web application that transforms how retail professionals conduct market research. Simply enter a natural language query, and the system autonomously generates a comprehensive, professional research report.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3190056"/>
            <a:ext cx="475267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platform combines generative AI, agentic systems, and modern DevOps practices to deliver real-time insights without manual intervention.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9435" y="2034480"/>
            <a:ext cx="3053135" cy="173005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DA70454-3CCC-B222-73BE-2B3E0648F237}"/>
              </a:ext>
            </a:extLst>
          </p:cNvPr>
          <p:cNvSpPr/>
          <p:nvPr/>
        </p:nvSpPr>
        <p:spPr>
          <a:xfrm>
            <a:off x="0" y="4048626"/>
            <a:ext cx="9144000" cy="10467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76338"/>
            <a:ext cx="740836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Three AI Technologies Powering the System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902842"/>
            <a:ext cx="2622724" cy="2064321"/>
          </a:xfrm>
          <a:prstGeom prst="roundRect">
            <a:avLst>
              <a:gd name="adj" fmla="val 1030"/>
            </a:avLst>
          </a:prstGeom>
          <a:solidFill>
            <a:srgbClr val="E9ECF2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77" y="2044601"/>
            <a:ext cx="425276" cy="42527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4856" y="2161505"/>
            <a:ext cx="191319" cy="19131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37877" y="261163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Generative AI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637877" y="2918147"/>
            <a:ext cx="23392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Google Gemini API generates structured reports, extracts insights, and produces professional documentation from raw data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3260601" y="1902842"/>
            <a:ext cx="2622724" cy="2064321"/>
          </a:xfrm>
          <a:prstGeom prst="roundRect">
            <a:avLst>
              <a:gd name="adj" fmla="val 1030"/>
            </a:avLst>
          </a:prstGeom>
          <a:solidFill>
            <a:srgbClr val="E9ECF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2360" y="2044601"/>
            <a:ext cx="425276" cy="425276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19339" y="2161505"/>
            <a:ext cx="191319" cy="19131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402360" y="261163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Agentic AI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3402360" y="2918147"/>
            <a:ext cx="23392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CrewAI orchestrates autonomous agents that collaborate, make decisions, and execute research tasks independently</a:t>
            </a:r>
            <a:endParaRPr lang="en-US" sz="1100" dirty="0"/>
          </a:p>
        </p:txBody>
      </p:sp>
      <p:sp>
        <p:nvSpPr>
          <p:cNvPr id="13" name="Shape 7"/>
          <p:cNvSpPr/>
          <p:nvPr/>
        </p:nvSpPr>
        <p:spPr>
          <a:xfrm>
            <a:off x="6025083" y="1902842"/>
            <a:ext cx="2622724" cy="2064321"/>
          </a:xfrm>
          <a:prstGeom prst="roundRect">
            <a:avLst>
              <a:gd name="adj" fmla="val 1030"/>
            </a:avLst>
          </a:prstGeom>
          <a:solidFill>
            <a:srgbClr val="E9ECF2"/>
          </a:solidFill>
          <a:ln/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6842" y="2044601"/>
            <a:ext cx="425276" cy="425276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83821" y="2161505"/>
            <a:ext cx="191319" cy="191319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6166842" y="261163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DevOps</a:t>
            </a:r>
            <a:endParaRPr lang="en-US" sz="1350" dirty="0"/>
          </a:p>
        </p:txBody>
      </p:sp>
      <p:sp>
        <p:nvSpPr>
          <p:cNvPr id="17" name="Text 9"/>
          <p:cNvSpPr/>
          <p:nvPr/>
        </p:nvSpPr>
        <p:spPr>
          <a:xfrm>
            <a:off x="6166842" y="2918147"/>
            <a:ext cx="23392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Automated CI/CD pipelines, containerization, and cloud deployment ensure reliable, scalable production infrastructure</a:t>
            </a:r>
            <a:endParaRPr lang="en-US" sz="11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A9325B7-3E77-2C52-8805-7C931B53055B}"/>
              </a:ext>
            </a:extLst>
          </p:cNvPr>
          <p:cNvSpPr/>
          <p:nvPr/>
        </p:nvSpPr>
        <p:spPr>
          <a:xfrm>
            <a:off x="0" y="4186989"/>
            <a:ext cx="9144000" cy="9565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96566"/>
            <a:ext cx="635637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Three AI Agents Working in Harmony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823070"/>
            <a:ext cx="2717229" cy="5670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7877" y="253186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Researcher Agent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37877" y="2838376"/>
            <a:ext cx="243371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Collects real-time data from the web using Tavily Search API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3348" y="1823070"/>
            <a:ext cx="2717229" cy="56703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355107" y="253186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Analyst Agent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355107" y="2838376"/>
            <a:ext cx="243371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Processes information and extracts meaningful insights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0578" y="1823070"/>
            <a:ext cx="2717229" cy="56703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72336" y="253186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Writer Agent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72336" y="2838376"/>
            <a:ext cx="243371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Generates structured professional reports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496119" y="3593232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These agents work autonomously, communicating and collaborating to deliver comprehensive research results without human intervention.</a:t>
            </a:r>
            <a:endParaRPr lang="en-US" sz="11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E1E5C9E-CF15-1530-32E4-45B2D416BE3C}"/>
              </a:ext>
            </a:extLst>
          </p:cNvPr>
          <p:cNvSpPr/>
          <p:nvPr/>
        </p:nvSpPr>
        <p:spPr>
          <a:xfrm>
            <a:off x="108284" y="4289258"/>
            <a:ext cx="8969542" cy="85424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9610" y="390004"/>
            <a:ext cx="3211860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System Architecture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449610" y="966043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01</a:t>
            </a:r>
            <a:endParaRPr lang="en-US" sz="10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610" y="1170087"/>
            <a:ext cx="4815780" cy="142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49610" y="1262881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Frontend Layer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449610" y="1533376"/>
            <a:ext cx="481578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 UI with Tailwind CSS provides intuitive user interface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449610" y="1941984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02</a:t>
            </a:r>
            <a:endParaRPr lang="en-US" sz="1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610" y="2133228"/>
            <a:ext cx="4815780" cy="142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49610" y="2238821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Backend Layer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449610" y="2509317"/>
            <a:ext cx="481578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FastAPI handles requests and coordinates AI agents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449610" y="2917924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03</a:t>
            </a:r>
            <a:endParaRPr lang="en-US" sz="1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610" y="3096295"/>
            <a:ext cx="4815780" cy="1428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49610" y="3214762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 Layer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449610" y="3485257"/>
            <a:ext cx="481578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ChromaDB enables semantic search over vector embeddings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449610" y="3893865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04</a:t>
            </a:r>
            <a:endParaRPr lang="en-US" sz="10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610" y="4059436"/>
            <a:ext cx="4815780" cy="1428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49610" y="4190702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Storage Layer</a:t>
            </a:r>
            <a:endParaRPr lang="en-US" sz="1250" dirty="0"/>
          </a:p>
        </p:txBody>
      </p:sp>
      <p:sp>
        <p:nvSpPr>
          <p:cNvPr id="19" name="Text 12"/>
          <p:cNvSpPr/>
          <p:nvPr/>
        </p:nvSpPr>
        <p:spPr>
          <a:xfrm>
            <a:off x="449610" y="4461197"/>
            <a:ext cx="481578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Text files provide backup and retrieval capability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733499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Technology Stack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530846"/>
            <a:ext cx="134347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Backend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1894061"/>
            <a:ext cx="1343471" cy="2466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 programming language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FastAPI framework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CrewAI for agent orchestration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Google Gemini API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Tavily Search API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2190229" y="1530846"/>
            <a:ext cx="134347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Frontend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2190229" y="1894061"/>
            <a:ext cx="1343471" cy="1460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 component library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Tailwind CSS framework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Server-Sent Events (SSE)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884340" y="1530846"/>
            <a:ext cx="134347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 Storage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884340" y="1894061"/>
            <a:ext cx="1343471" cy="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ChromaDB vector database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Text file backup system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75022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Features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501527"/>
            <a:ext cx="354360" cy="35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033067"/>
            <a:ext cx="188081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Autonomous Research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339578"/>
            <a:ext cx="398725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Complete research execution without human intervention from query to report generation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1501527"/>
            <a:ext cx="354360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0553" y="203306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Real-Time Progress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660553" y="2339578"/>
            <a:ext cx="39873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Server-Sent Events (SSE) stream updates with low latency as research progresses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3076724"/>
            <a:ext cx="354360" cy="354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6119" y="360826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Semantic Search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96119" y="3914775"/>
            <a:ext cx="398725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Query past reports using natural language with vector-based similarity matching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0553" y="3076724"/>
            <a:ext cx="354360" cy="3543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660553" y="360826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Dual Storage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660553" y="3914775"/>
            <a:ext cx="39873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Vector database for semantic search plus text files for reliable backup and retrieval</a:t>
            </a:r>
            <a:endParaRPr lang="en-US" sz="11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877A399-25FD-D132-6446-914554D65AD9}"/>
              </a:ext>
            </a:extLst>
          </p:cNvPr>
          <p:cNvSpPr/>
          <p:nvPr/>
        </p:nvSpPr>
        <p:spPr>
          <a:xfrm>
            <a:off x="168442" y="4499811"/>
            <a:ext cx="8975558" cy="6436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47986"/>
            <a:ext cx="402342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DevOps Implementation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708720" y="2441525"/>
            <a:ext cx="2410048" cy="141759"/>
          </a:xfrm>
          <a:prstGeom prst="roundRect">
            <a:avLst>
              <a:gd name="adj" fmla="val 15001"/>
            </a:avLst>
          </a:prstGeom>
          <a:solidFill>
            <a:srgbClr val="E9ECF2"/>
          </a:solidFill>
          <a:ln/>
        </p:spPr>
      </p:sp>
      <p:sp>
        <p:nvSpPr>
          <p:cNvPr id="4" name="Shape 2"/>
          <p:cNvSpPr/>
          <p:nvPr/>
        </p:nvSpPr>
        <p:spPr>
          <a:xfrm>
            <a:off x="496119" y="2299729"/>
            <a:ext cx="425276" cy="425276"/>
          </a:xfrm>
          <a:prstGeom prst="roundRect">
            <a:avLst>
              <a:gd name="adj" fmla="val 67192"/>
            </a:avLst>
          </a:prstGeom>
          <a:solidFill>
            <a:srgbClr val="E9ECF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456" y="2406067"/>
            <a:ext cx="212601" cy="2126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7877" y="286680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Containerization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37877" y="3173313"/>
            <a:ext cx="23392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Docker packages application and dependencies for consistent deployment across environments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473202" y="2228850"/>
            <a:ext cx="2410048" cy="141759"/>
          </a:xfrm>
          <a:prstGeom prst="roundRect">
            <a:avLst>
              <a:gd name="adj" fmla="val 15001"/>
            </a:avLst>
          </a:prstGeom>
          <a:solidFill>
            <a:srgbClr val="E9ECF2"/>
          </a:solidFill>
          <a:ln/>
        </p:spPr>
      </p:sp>
      <p:sp>
        <p:nvSpPr>
          <p:cNvPr id="9" name="Shape 6"/>
          <p:cNvSpPr/>
          <p:nvPr/>
        </p:nvSpPr>
        <p:spPr>
          <a:xfrm>
            <a:off x="3260601" y="2087054"/>
            <a:ext cx="425276" cy="425276"/>
          </a:xfrm>
          <a:prstGeom prst="roundRect">
            <a:avLst>
              <a:gd name="adj" fmla="val 67192"/>
            </a:avLst>
          </a:prstGeom>
          <a:solidFill>
            <a:srgbClr val="E9ECF2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66939" y="2193392"/>
            <a:ext cx="212601" cy="21260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02360" y="265412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CI/CD Pipeline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402360" y="2960638"/>
            <a:ext cx="23392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GitHub Actions automates testing and deployment with SHA-based versioning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237684" y="2016249"/>
            <a:ext cx="2410048" cy="141759"/>
          </a:xfrm>
          <a:prstGeom prst="roundRect">
            <a:avLst>
              <a:gd name="adj" fmla="val 15001"/>
            </a:avLst>
          </a:prstGeom>
          <a:solidFill>
            <a:srgbClr val="E9ECF2"/>
          </a:solidFill>
          <a:ln/>
        </p:spPr>
      </p:sp>
      <p:sp>
        <p:nvSpPr>
          <p:cNvPr id="14" name="Shape 10"/>
          <p:cNvSpPr/>
          <p:nvPr/>
        </p:nvSpPr>
        <p:spPr>
          <a:xfrm>
            <a:off x="6025083" y="1874453"/>
            <a:ext cx="425276" cy="425276"/>
          </a:xfrm>
          <a:prstGeom prst="roundRect">
            <a:avLst>
              <a:gd name="adj" fmla="val 67192"/>
            </a:avLst>
          </a:prstGeom>
          <a:solidFill>
            <a:srgbClr val="E9ECF2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31421" y="1980791"/>
            <a:ext cx="212601" cy="21260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66842" y="244152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AWS EC2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166842" y="2748037"/>
            <a:ext cx="23392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Production deployment on scalable cloud infrastructure with rollback capabilities</a:t>
            </a:r>
            <a:endParaRPr lang="en-US" sz="11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A53FB76-A793-FA9A-737C-DFE3859D7DDD}"/>
              </a:ext>
            </a:extLst>
          </p:cNvPr>
          <p:cNvSpPr/>
          <p:nvPr/>
        </p:nvSpPr>
        <p:spPr>
          <a:xfrm>
            <a:off x="144379" y="4217068"/>
            <a:ext cx="8999621" cy="9264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236687"/>
            <a:ext cx="392690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Performance &amp; Benefits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03403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Performance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925119" y="2397249"/>
            <a:ext cx="2188443" cy="1233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updates with minimal latency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Automated deployment within minutes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Production-ready infrastructure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64201" y="203403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Advantages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464201" y="2397249"/>
            <a:ext cx="2188443" cy="1460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Significantly reduces time and cost of manual research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Enhanced accuracy through real-time data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Scalable and maintainable architecture</a:t>
            </a:r>
            <a:endParaRPr lang="en-US" sz="11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A0FDAC-E7DD-CB8F-0AB9-7F3A1435C791}"/>
              </a:ext>
            </a:extLst>
          </p:cNvPr>
          <p:cNvSpPr/>
          <p:nvPr/>
        </p:nvSpPr>
        <p:spPr>
          <a:xfrm>
            <a:off x="4259179" y="4553953"/>
            <a:ext cx="4812632" cy="5895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08884" y="356220"/>
            <a:ext cx="2713509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Future Roadmap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3808884" y="982787"/>
            <a:ext cx="4955232" cy="766762"/>
          </a:xfrm>
          <a:prstGeom prst="roundRect">
            <a:avLst>
              <a:gd name="adj" fmla="val 8944"/>
            </a:avLst>
          </a:prstGeom>
          <a:solidFill>
            <a:srgbClr val="FBFCFE"/>
          </a:solidFill>
          <a:ln w="14288">
            <a:solidFill>
              <a:srgbClr val="CFD2D8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8884" y="968499"/>
            <a:ext cx="4955232" cy="5715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3719" y="820043"/>
            <a:ext cx="325562" cy="325562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221350" y="901452"/>
            <a:ext cx="130225" cy="162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3"/>
          <p:cNvSpPr/>
          <p:nvPr/>
        </p:nvSpPr>
        <p:spPr>
          <a:xfrm>
            <a:off x="3931667" y="1254100"/>
            <a:ext cx="13567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User Authentication</a:t>
            </a:r>
            <a:endParaRPr lang="en-US" sz="1050" dirty="0"/>
          </a:p>
        </p:txBody>
      </p:sp>
      <p:sp>
        <p:nvSpPr>
          <p:cNvPr id="9" name="Text 4"/>
          <p:cNvSpPr/>
          <p:nvPr/>
        </p:nvSpPr>
        <p:spPr>
          <a:xfrm>
            <a:off x="3931667" y="1473473"/>
            <a:ext cx="4709666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Secure user accounts with role-based access control and data privacy</a:t>
            </a:r>
            <a:endParaRPr lang="en-US" sz="850" dirty="0"/>
          </a:p>
        </p:txBody>
      </p:sp>
      <p:sp>
        <p:nvSpPr>
          <p:cNvPr id="10" name="Shape 5"/>
          <p:cNvSpPr/>
          <p:nvPr/>
        </p:nvSpPr>
        <p:spPr>
          <a:xfrm>
            <a:off x="3808884" y="1995339"/>
            <a:ext cx="4955232" cy="766762"/>
          </a:xfrm>
          <a:prstGeom prst="roundRect">
            <a:avLst>
              <a:gd name="adj" fmla="val 8944"/>
            </a:avLst>
          </a:prstGeom>
          <a:solidFill>
            <a:srgbClr val="FBFCFE"/>
          </a:solidFill>
          <a:ln w="14288">
            <a:solidFill>
              <a:srgbClr val="CFD2D8"/>
            </a:solidFill>
            <a:prstDash val="solid"/>
          </a:ln>
        </p:spPr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8884" y="1981051"/>
            <a:ext cx="4955232" cy="57150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3719" y="1832595"/>
            <a:ext cx="325562" cy="32556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6221350" y="1914004"/>
            <a:ext cx="130225" cy="162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7"/>
          <p:cNvSpPr/>
          <p:nvPr/>
        </p:nvSpPr>
        <p:spPr>
          <a:xfrm>
            <a:off x="3931667" y="2266652"/>
            <a:ext cx="13567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Export Capabilities</a:t>
            </a:r>
            <a:endParaRPr lang="en-US" sz="1050" dirty="0"/>
          </a:p>
        </p:txBody>
      </p:sp>
      <p:sp>
        <p:nvSpPr>
          <p:cNvPr id="15" name="Text 8"/>
          <p:cNvSpPr/>
          <p:nvPr/>
        </p:nvSpPr>
        <p:spPr>
          <a:xfrm>
            <a:off x="3931667" y="2486025"/>
            <a:ext cx="4709666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 PDF and Word document formats for sharing and presentations</a:t>
            </a:r>
            <a:endParaRPr lang="en-US" sz="850" dirty="0"/>
          </a:p>
        </p:txBody>
      </p:sp>
      <p:sp>
        <p:nvSpPr>
          <p:cNvPr id="16" name="Shape 9"/>
          <p:cNvSpPr/>
          <p:nvPr/>
        </p:nvSpPr>
        <p:spPr>
          <a:xfrm>
            <a:off x="3808884" y="3007891"/>
            <a:ext cx="4955232" cy="766762"/>
          </a:xfrm>
          <a:prstGeom prst="roundRect">
            <a:avLst>
              <a:gd name="adj" fmla="val 8944"/>
            </a:avLst>
          </a:prstGeom>
          <a:solidFill>
            <a:srgbClr val="FBFCFE"/>
          </a:solidFill>
          <a:ln w="14288">
            <a:solidFill>
              <a:srgbClr val="CFD2D8"/>
            </a:solidFill>
            <a:prstDash val="solid"/>
          </a:ln>
        </p:spPr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8884" y="2993603"/>
            <a:ext cx="4955232" cy="57150"/>
          </a:xfrm>
          <a:prstGeom prst="rect">
            <a:avLst/>
          </a:prstGeom>
        </p:spPr>
      </p:pic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3719" y="2845147"/>
            <a:ext cx="325562" cy="325562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6221350" y="2926556"/>
            <a:ext cx="130225" cy="162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1"/>
          <p:cNvSpPr/>
          <p:nvPr/>
        </p:nvSpPr>
        <p:spPr>
          <a:xfrm>
            <a:off x="3931667" y="3279204"/>
            <a:ext cx="13567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Customization</a:t>
            </a:r>
            <a:endParaRPr lang="en-US" sz="1050" dirty="0"/>
          </a:p>
        </p:txBody>
      </p:sp>
      <p:sp>
        <p:nvSpPr>
          <p:cNvPr id="21" name="Text 12"/>
          <p:cNvSpPr/>
          <p:nvPr/>
        </p:nvSpPr>
        <p:spPr>
          <a:xfrm>
            <a:off x="3931667" y="3498577"/>
            <a:ext cx="4709666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Industry-specific research templates and tailored data sources</a:t>
            </a:r>
            <a:endParaRPr lang="en-US" sz="850" dirty="0"/>
          </a:p>
        </p:txBody>
      </p:sp>
      <p:sp>
        <p:nvSpPr>
          <p:cNvPr id="22" name="Shape 13"/>
          <p:cNvSpPr/>
          <p:nvPr/>
        </p:nvSpPr>
        <p:spPr>
          <a:xfrm>
            <a:off x="3808884" y="4020443"/>
            <a:ext cx="4955232" cy="766762"/>
          </a:xfrm>
          <a:prstGeom prst="roundRect">
            <a:avLst>
              <a:gd name="adj" fmla="val 8944"/>
            </a:avLst>
          </a:prstGeom>
          <a:solidFill>
            <a:srgbClr val="FBFCFE"/>
          </a:solidFill>
          <a:ln w="14288">
            <a:solidFill>
              <a:srgbClr val="CFD2D8"/>
            </a:solidFill>
            <a:prstDash val="solid"/>
          </a:ln>
        </p:spPr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8884" y="4006155"/>
            <a:ext cx="4955232" cy="57150"/>
          </a:xfrm>
          <a:prstGeom prst="rect">
            <a:avLst/>
          </a:prstGeom>
        </p:spPr>
      </p:pic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3719" y="3857699"/>
            <a:ext cx="325562" cy="325562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6221350" y="3939108"/>
            <a:ext cx="130225" cy="162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15"/>
          <p:cNvSpPr/>
          <p:nvPr/>
        </p:nvSpPr>
        <p:spPr>
          <a:xfrm>
            <a:off x="3931667" y="4291757"/>
            <a:ext cx="13567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Monitoring</a:t>
            </a:r>
            <a:endParaRPr lang="en-US" sz="1050" dirty="0"/>
          </a:p>
        </p:txBody>
      </p:sp>
      <p:sp>
        <p:nvSpPr>
          <p:cNvPr id="27" name="Text 16"/>
          <p:cNvSpPr/>
          <p:nvPr/>
        </p:nvSpPr>
        <p:spPr>
          <a:xfrm>
            <a:off x="3931667" y="4511129"/>
            <a:ext cx="4709666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Kubernetes orchestration with comprehensive logging and alerting systems</a:t>
            </a:r>
            <a:endParaRPr lang="en-US" sz="85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6877C6D-5A1F-370D-D3CF-0D8F60AF799B}"/>
              </a:ext>
            </a:extLst>
          </p:cNvPr>
          <p:cNvSpPr/>
          <p:nvPr/>
        </p:nvSpPr>
        <p:spPr>
          <a:xfrm>
            <a:off x="3495174" y="4787205"/>
            <a:ext cx="5648826" cy="3562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454</Words>
  <Application>Microsoft Office PowerPoint</Application>
  <PresentationFormat>On-screen Show (16:9)</PresentationFormat>
  <Paragraphs>95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Roboto Slab</vt:lpstr>
      <vt:lpstr>Arial</vt:lpstr>
      <vt:lpstr>Roboto</vt:lpstr>
      <vt:lpstr>Roboto Slab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lastModifiedBy>Isha Joshi</cp:lastModifiedBy>
  <cp:revision>2</cp:revision>
  <dcterms:created xsi:type="dcterms:W3CDTF">2026-05-06T05:21:27Z</dcterms:created>
  <dcterms:modified xsi:type="dcterms:W3CDTF">2026-05-06T05:32:00Z</dcterms:modified>
</cp:coreProperties>
</file>